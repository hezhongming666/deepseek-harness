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100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524000"/>
            <a:ext cx="10668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工业自动化生产系统工程落地之</a:t>
            </a:r>
          </a:p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全程 AI Agent 全自动自主完成闭环设计架构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683000"/>
            <a:ext cx="10668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FFD966"/>
                </a:solidFill>
                <a:latin typeface="微软雅黑"/>
                <a:ea typeface="微软雅黑"/>
              </a:rPr>
              <a:t>模型生成 · 系统裁决 · 人类把关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080000"/>
            <a:ext cx="10668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C8D2E1"/>
                </a:solidFill>
                <a:latin typeface="微软雅黑"/>
                <a:ea typeface="微软雅黑"/>
              </a:rPr>
              <a:t>架构设计 v1.1 · 汇报版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C8D2E1"/>
                </a:solidFill>
                <a:latin typeface="微软雅黑"/>
                <a:ea typeface="微软雅黑"/>
              </a:rPr>
              <a:t>覆盖：需求 → 设计 → 实现 → 仿真 → 现场 → 验收 → 运维 全生命周期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C8D2E1"/>
                </a:solidFill>
                <a:latin typeface="微软雅黑"/>
                <a:ea typeface="微软雅黑"/>
              </a:rPr>
              <a:t>导出日期：2026-09-05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执行摘要（面向决策层）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1176000" cy="30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</a:rPr>
              <a:t>▪ 问题：工业自动化项目交付周期长、依赖个人经验、知识复用率低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</a:rPr>
              <a:t>▪ 方案：多 Agent 体系 + “验证即门禁”，需求→设计→编程→仿真→部署→运维全链路自主闭环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</a:rPr>
              <a:t>▪ 核心原则：模型负责生成，确定性工具负责裁决，人类负责把关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</a:rPr>
              <a:t>▪ 预期收益：项目周期 -40% 以上，现场调试工时 -50% 以上，知识复用率 ≥60%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</a:rPr>
              <a:t>▪ 落地路径：四阶段渐进（助手→受控半自动→受限全自动→学习型全自动）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</a:rPr>
              <a:t>▪ 投资估算（示例）：¥115–245 万初始投入，1.5–2.5 年回收（10 项目/年规模）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826000"/>
            <a:ext cx="11176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05028"/>
                </a:solidFill>
                <a:latin typeface="微软雅黑"/>
                <a:ea typeface="微软雅黑"/>
              </a:rPr>
              <a:t>红 线：安全事故数为 0 ｜ SIL3+ 安全功能不自动生成 ｜ 危险操作永远人工闸门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问题与目标：让 Agent 成为“工程主体”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000" y="1397000"/>
            <a:ext cx="5334000" cy="2540000"/>
          </a:xfrm>
          <a:prstGeom prst="roundRect">
            <a:avLst/>
          </a:prstGeom>
          <a:solidFill>
            <a:srgbClr val="7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传统痛点</a:t>
            </a:r>
          </a:p>
          <a:p>
            <a:br/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周期长、高度依赖资深工程师个人经验</a:t>
            </a:r>
            <a:br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需求变更与现场调试反复迭代</a:t>
            </a:r>
            <a:br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知识沉淀差、复用率低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9000" y="2413000"/>
            <a:ext cx="431800" cy="330200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04000" y="1397000"/>
            <a:ext cx="5334000" cy="2540000"/>
          </a:xfrm>
          <a:prstGeom prst="roundRect">
            <a:avLst/>
          </a:prstGeom>
          <a:solidFill>
            <a:srgbClr val="0F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架构目标</a:t>
            </a:r>
          </a:p>
          <a:p>
            <a:br/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以可验证、可追溯、可回滚的方式</a:t>
            </a:r>
            <a:br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自主完成需求→运维全程闭环</a:t>
            </a:r>
            <a:br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经验沉淀为随项目增长的学习闭环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4318000"/>
            <a:ext cx="11176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质量由确定性验证器强制把关，而非依赖模型自觉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人工介入收敛为预先声明的“闸门”，全部留痕可审计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范围排除：SIL3+ 自动生成、特种设备自动签批、强物理交互全自主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总体架构：三闭环嵌套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1651000"/>
            <a:ext cx="3556000" cy="2159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工程闭环（主体）</a:t>
            </a:r>
          </a:p>
          <a:p>
            <a:br/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需求→设计→实现→验证→交付</a:t>
            </a:r>
            <a:br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自动化程度逐级提升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64000" y="2476500"/>
            <a:ext cx="431800" cy="330200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99000" y="1651000"/>
            <a:ext cx="3556000" cy="21590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运行闭环（反哺）</a:t>
            </a:r>
          </a:p>
          <a:p>
            <a:br/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生产数据→诊断/优化→再部署</a:t>
            </a:r>
            <a:br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现场数据反哺工程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82000" y="2476500"/>
            <a:ext cx="431800" cy="330200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17000" y="1651000"/>
            <a:ext cx="2794000" cy="2159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学习闭环（增强）</a:t>
            </a:r>
          </a:p>
          <a:p>
            <a:br/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经验→案例/模板/标准库</a:t>
            </a:r>
            <a:br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随项目增长而增强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4318000"/>
            <a:ext cx="11176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工程闭环是主体：每阶段产出经确定性验证器放行（验证即门禁）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运行闭环把生产现场数据回灌设计；学习闭环把项目经验沉淀复用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总体架构：六层分层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000" y="1270000"/>
            <a:ext cx="11176000" cy="762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L5 人机协作层</a:t>
            </a:r>
          </a:p>
          <a:p>
            <a:br/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监督面板 · 审批流 · 任务分配（人只走预定义入口，全程留痕）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2133600"/>
            <a:ext cx="11176000" cy="762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L4 编排与治理层</a:t>
            </a:r>
          </a:p>
          <a:p>
            <a:br/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Orchestrator 编排 · 任务分解 · 闸门与升级引擎 · 全量审计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2997200"/>
            <a:ext cx="11176000" cy="76200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L3 Agent 执行层</a:t>
            </a:r>
          </a:p>
          <a:p>
            <a:br/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9 个专业 Agent：需求/设计/电气/程序/HMI/仿真/文档/现场/运维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3860800"/>
            <a:ext cx="11176000" cy="762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L2 工具与协议层</a:t>
            </a:r>
          </a:p>
          <a:p>
            <a:br/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MCP/A2A 总线 · TIA/CODESYS/TwinCAT · E-CAD · 仿真 · OPC UA · 版本库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4724400"/>
            <a:ext cx="11176000" cy="762000"/>
          </a:xfrm>
          <a:prstGeom prst="rect">
            <a:avLst/>
          </a:prstGeom>
          <a:solidFill>
            <a:srgbClr val="8EA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1E1E"/>
                </a:solidFill>
                <a:latin typeface="微软雅黑"/>
                <a:ea typeface="微软雅黑"/>
              </a:rPr>
              <a:t>L1 数据与知识层</a:t>
            </a:r>
          </a:p>
          <a:p>
            <a:br/>
            <a:pPr algn="l">
              <a:lnSpc>
                <a:spcPct val="112000"/>
              </a:lnSpc>
            </a:pPr>
            <a:r>
              <a:rPr sz="1200" b="0">
                <a:solidFill>
                  <a:srgbClr val="1E1E1E"/>
                </a:solidFill>
                <a:latin typeface="微软雅黑"/>
                <a:ea typeface="微软雅黑"/>
              </a:rPr>
              <a:t>标准/模板/案例库（RAG）· 数字孪生模型库 · 全链路追溯库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5588000"/>
            <a:ext cx="11176000" cy="762000"/>
          </a:xfrm>
          <a:prstGeom prst="rect">
            <a:avLst/>
          </a:prstGeom>
          <a:solidFill>
            <a:srgbClr val="BDC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1E1E"/>
                </a:solidFill>
                <a:latin typeface="微软雅黑"/>
                <a:ea typeface="微软雅黑"/>
              </a:rPr>
              <a:t>L0 基础设施层</a:t>
            </a:r>
          </a:p>
          <a:p>
            <a:br/>
            <a:pPr algn="l">
              <a:lnSpc>
                <a:spcPct val="112000"/>
              </a:lnSpc>
            </a:pPr>
            <a:r>
              <a:rPr sz="1200" b="0">
                <a:solidFill>
                  <a:srgbClr val="1E1E1E"/>
                </a:solidFill>
                <a:latin typeface="微软雅黑"/>
                <a:ea typeface="微软雅黑"/>
              </a:rPr>
              <a:t>LLM 服务（通用+领域）· 算力与边缘节点 · 存储（现场可离线）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核心机制：验证即门禁（Verify-as-Gate）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000" y="1270000"/>
            <a:ext cx="11176000" cy="5588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2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生成 → 验证 → 放行 / 驳回        （确定性验证器裁决，不依赖模型自觉）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8000" y="2095500"/>
          <a:ext cx="11176000" cy="177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25333"/>
                <a:gridCol w="3725333"/>
                <a:gridCol w="3725334"/>
              </a:tblGrid>
              <a:tr h="2540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专业域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验证器示例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输出证据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控制程序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PLC 编译 / Lint（命名、未用变量、禁止指令）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编译日志、Lint 报告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电气设计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E-CAD 规则检查（短路、未连接端子、物料校验）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规则检查报告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需求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完整性 + 一致性 + 可测性检查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追溯矩阵、缺口报告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仿真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数字孪生虚拟调试用例（节拍/联锁/报警/故障注入）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通过率、时序数据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安全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IEC 61511 / ISO 13849 / IEC 62061 条款初查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符合性初查表（人工终审）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网络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IEC 62443 分区检查、未授权端口清单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配置审计报告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8000" y="5080000"/>
            <a:ext cx="11176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</a:rPr>
              <a:t>双 Agent 交叉评审仅作辅助证据，不替代确定性验证器；安全关键逻辑可引入形式化验证（nuXmv/PLCverif）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Agent 体系：9 个专业 Agent + 编排器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7500" y="1333500"/>
            <a:ext cx="3683000" cy="4064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需求工程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500" y="1739900"/>
            <a:ext cx="3683000" cy="6096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微软雅黑"/>
                <a:ea typeface="微软雅黑"/>
              </a:rPr>
              <a:t>协议/URS→需求矩阵+澄清问题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4500" y="1333500"/>
            <a:ext cx="3683000" cy="4064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方案设计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4500" y="1739900"/>
            <a:ext cx="3683000" cy="6096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微软雅黑"/>
                <a:ea typeface="微软雅黑"/>
              </a:rPr>
              <a:t>架构选型·IO 估算·SIL 初评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1500" y="1333500"/>
            <a:ext cx="3683000" cy="4064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电气设计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1500" y="1739900"/>
            <a:ext cx="3683000" cy="6096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微软雅黑"/>
                <a:ea typeface="微软雅黑"/>
              </a:rPr>
              <a:t>原理图·IO 清单·BOM 校验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7500" y="2540000"/>
            <a:ext cx="3683000" cy="4064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控制程序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500" y="2946400"/>
            <a:ext cx="3683000" cy="6096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微软雅黑"/>
                <a:ea typeface="微软雅黑"/>
              </a:rPr>
              <a:t>IEC 61131-3 生成+编译内环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4500" y="2540000"/>
            <a:ext cx="3683000" cy="4064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HMI/SCADA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4500" y="2946400"/>
            <a:ext cx="3683000" cy="6096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微软雅黑"/>
                <a:ea typeface="微软雅黑"/>
              </a:rPr>
              <a:t>画面/报警组态+一致性校验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1500" y="2540000"/>
            <a:ext cx="3683000" cy="4064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仿真验证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1500" y="2946400"/>
            <a:ext cx="3683000" cy="6096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微软雅黑"/>
                <a:ea typeface="微软雅黑"/>
              </a:rPr>
              <a:t>数字孪生虚拟调试·故障注入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7500" y="3746500"/>
            <a:ext cx="3683000" cy="4064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文档合规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500" y="4152900"/>
            <a:ext cx="3683000" cy="6096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微软雅黑"/>
                <a:ea typeface="微软雅黑"/>
              </a:rPr>
              <a:t>文档包+符合性初查+HAZOP/FMEA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4500" y="3746500"/>
            <a:ext cx="3683000" cy="4064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现场实施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4500" y="4152900"/>
            <a:ext cx="3683000" cy="6096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微软雅黑"/>
                <a:ea typeface="微软雅黑"/>
              </a:rPr>
              <a:t>点检/联调脚本+诊断（上电人工）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1500" y="3746500"/>
            <a:ext cx="3683000" cy="4064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运行运维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1500" y="4152900"/>
            <a:ext cx="3683000" cy="6096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微软雅黑"/>
                <a:ea typeface="微软雅黑"/>
              </a:rPr>
              <a:t>根因分析+优化提案回灌闭环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7500" y="5080000"/>
            <a:ext cx="11557000" cy="889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编排器 Orchestrator：DAG 任务分解 · 调度与失败升级 · 多项目隔离（无权批准闸门）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闭环机制：内环 / 外环 / 学习环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1333500"/>
            <a:ext cx="3683000" cy="2667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内闭环 · 自动修复</a:t>
            </a:r>
          </a:p>
          <a:p>
            <a:br/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生成 → 验证 fail → 诊断 → 修复 → 重验</a:t>
            </a:r>
            <a:br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重试默认 ≤3 次，超出即升级</a:t>
            </a:r>
            <a:br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修复以验证器输出为依据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4500" y="1333500"/>
            <a:ext cx="3683000" cy="26670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外闭环 · 人工介入</a:t>
            </a:r>
          </a:p>
          <a:p>
            <a:br/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升级包必含：上下文 + 产物与证据</a:t>
            </a:r>
            <a:br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+ 失败原因 + 候选方案</a:t>
            </a:r>
            <a:br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裁决回写状态机并成为学习样本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0" y="1333500"/>
            <a:ext cx="3683000" cy="2667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学习闭环 · 经验沉淀</a:t>
            </a:r>
          </a:p>
          <a:p>
            <a:br/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通过产物→模板库；失败-修复对→案例库</a:t>
            </a:r>
            <a:br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人工裁决→规则库；现场变更→变更案例库</a:t>
            </a:r>
            <a:br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学习管线初筛 + 人工定期审核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4572000"/>
            <a:ext cx="1143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1E1E1E"/>
                </a:solidFill>
                <a:latin typeface="微软雅黑"/>
                <a:ea typeface="微软雅黑"/>
              </a:rPr>
              <a:t>三环贯通：内环保质量，外环保可控，学习环让体系随项目数量增长而增强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全链路可追溯 + 变更影响分析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1176000" cy="17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四库联动、单一数据源：需求库 / 工程资产仓库 / 追溯库 / 验证证据库，以需求 ID 贯通全程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资产即代码：图纸/程序/组态/测试全部版本化，Agent 一切修改可 diff、可回滚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每次生成记录：输入版本、模型与提示词版本、验证证据、Agent/人身份、时间戳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000" y="3556000"/>
            <a:ext cx="11176000" cy="76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变更影响分析（有向图遍历）</a:t>
            </a:r>
            <a:br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需求节点→设计节点→实现节点→测试节点，变更沿图正向遍历下游可达节点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000" y="4508500"/>
            <a:ext cx="3492500" cy="1651000"/>
          </a:xfrm>
          <a:prstGeom prst="roundRect">
            <a:avLst/>
          </a:prstGeom>
          <a:solidFill>
            <a:srgbClr val="C05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直接影响</a:t>
            </a:r>
          </a:p>
          <a:p>
            <a:br/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同一节点产物需重新生成</a:t>
            </a:r>
            <a:br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自动触发重新生成+验证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4500" y="4508500"/>
            <a:ext cx="3492500" cy="16510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间接影响</a:t>
            </a:r>
          </a:p>
          <a:p>
            <a:br/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下游节点需重新验证</a:t>
            </a:r>
            <a:br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进入待办队列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508500"/>
            <a:ext cx="3492500" cy="1651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潜在影响</a:t>
            </a:r>
          </a:p>
          <a:p>
            <a:br/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语义相关但无直接链接</a:t>
            </a:r>
            <a:br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模型辅助判断 + 人工确认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人机边界：自动化分级与强制闸门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8000" y="1270000"/>
          <a:ext cx="11176000" cy="127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4000"/>
                <a:gridCol w="2794000"/>
                <a:gridCol w="2794000"/>
                <a:gridCol w="2794000"/>
              </a:tblGrid>
              <a:tr h="254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等级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名称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Agent 权限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人工角色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A0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辅助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生成草案、检索、检查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人完成全部决策与实现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A1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受控半自动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生成+验证+自动修复，闸门前停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人批闸门、终审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A2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受限全自动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闸门由规则自动放行（标准项目）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人仅例外介入、抽查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A3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学习型全自动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运维优化提案自动进入闭环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人治理知识库与规则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8000" y="4191000"/>
            <a:ext cx="11176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1E1E"/>
                </a:solidFill>
                <a:latin typeface="微软雅黑"/>
                <a:ea typeface="微软雅黑"/>
              </a:rPr>
              <a:t>▪ 6 项不可移除闸门：需求基线确认 ｜ 方案评审 ｜ SIL 功能认证工程师终审 ｜ 现场首次上电/带能动作 ｜ 验收签字 ｜ 生产在线变更部署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1E1E"/>
                </a:solidFill>
                <a:latin typeface="微软雅黑"/>
                <a:ea typeface="微软雅黑"/>
              </a:rPr>
              <a:t>▪ 危险操作（上电/带能/在线强制变量/安全程序修改）在任何等级下都是人工闸门，不随等级放开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安全、合规与业务连续性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1176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功能安全：IEC 61511（过程）/ ISO 13849、IEC 62061（机械）——Agent 仅出草案与初查，认证决策由人负责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网络安全：IEC 62443 分区与纵深防御；Agent 生成程序/组态遵循 IEC 62443-4-1 安全开发生命周期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权限最小化：工程区读写、生产网只读、在线写入需审批；全量决策日志加密存证、可导出审计包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责任划分：Agent 负责生成与自验证，人类闸门负责放行决策，事故追溯以日志为证据链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000" y="3683000"/>
            <a:ext cx="11176000" cy="2286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灾难恢复（示例目标，按企业校准）</a:t>
            </a:r>
          </a:p>
          <a:p>
            <a:br/>
            <a:pPr algn="l">
              <a:lnSpc>
                <a:spcPct val="112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▪ 编排器/闸门主备部署，任务状态持久化</a:t>
            </a:r>
            <a:br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▪ 工程资产多副本+异地备份：RPO≤24h、RTO≤4h</a:t>
            </a:r>
            <a:br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▪ 模型中断降级：关键验证器本地化、模型多路冗余</a:t>
            </a:r>
            <a:br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▪ 恢复演练每季度一次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数据与知识层：冷启动策略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1176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标准库（GB/IEC/ISO/VDI 结构化条款）＋ 模板库（程序框架/画面规范/文档模板）＋ 案例库（历史项目/失败-修复对/现场变更）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检索结果必须带出处与版本；命中率低的领域标记“知识空白”，触发补库任务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000" y="3048000"/>
            <a:ext cx="3492500" cy="2921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① 种子库构建</a:t>
            </a:r>
          </a:p>
          <a:p>
            <a:br/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历史项目提取 ≥20 个已验证程序模板</a:t>
            </a:r>
            <a:br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≥5 套标准检查清单</a:t>
            </a:r>
            <a:br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≥10 个典型案例（含失败-修复对）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4500" y="3048000"/>
            <a:ext cx="3492500" cy="29210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② 最小可用规模</a:t>
            </a:r>
          </a:p>
          <a:p>
            <a:br/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模板库 ≥20 条、案例库 ≥30 条</a:t>
            </a:r>
            <a:br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标准库覆盖主营业务</a:t>
            </a:r>
            <a:br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低于规模 → 退化为纯生成模式并显式标示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048000"/>
            <a:ext cx="3492500" cy="2921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③ 质量门控</a:t>
            </a:r>
          </a:p>
          <a:p>
            <a:br/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初始入库：资深工程师逐条审核</a:t>
            </a:r>
            <a:br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后续增量：学习管线初筛 + 人工抽检（≥20%）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关键使能技术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1270000"/>
            <a:ext cx="11176000" cy="35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模型：通用大模型 + 领域微调；结构化元数据强制 JSON Schema 校验，代码/图纸由确定性验证器裁决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多模态：图纸理解（电气图/P&amp;ID）、现场照片诊断、界面截图理解；关键结论必须附证据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确定性验证引擎：编译 / Lint / E-CAD 规则 / 仿真 / 规范检查；“无可自动化接口的验证环节宁可人工，不可假自动”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工具协议：MCP/A2A 能力总线封装 TIA Openness、CODESYS、TwinCAT、E-CAD、OPC UA；云端编排 + 边缘执行（离线可用）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模型治理：每次生成记录模型/提示词版本；模型升级触发回归验证（最近 N 个交付项目重新编译/仿真）；提示词变更走变更审批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落地路径：四阶段渐进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4000" y="1397000"/>
            <a:ext cx="2730500" cy="30480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阶段一 · AI 助手</a:t>
            </a:r>
          </a:p>
          <a:p>
            <a:br/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A0→A1 起步 · 1-2 季度</a:t>
            </a:r>
          </a:p>
          <a:p>
            <a:br/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程序单点 + 本地编译内环</a:t>
            </a:r>
            <a:br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退出：首生成编译 ≥80%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84500" y="2794000"/>
            <a:ext cx="254000" cy="330200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38500" y="1397000"/>
            <a:ext cx="2730500" cy="3048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阶段二 · 受控半自动</a:t>
            </a:r>
          </a:p>
          <a:p>
            <a:br/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A1 · 2-4 季度</a:t>
            </a:r>
          </a:p>
          <a:p>
            <a:br/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全链工具 + 闸门体系 + 追溯库</a:t>
            </a:r>
            <a:br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退出：缺陷密度较基线 -30%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9000" y="2794000"/>
            <a:ext cx="254000" cy="330200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23000" y="1397000"/>
            <a:ext cx="2730500" cy="30480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阶段三 · 受限全自动</a:t>
            </a:r>
          </a:p>
          <a:p>
            <a:br/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A2 · 标准产线试点</a:t>
            </a:r>
          </a:p>
          <a:p>
            <a:br/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规则化闸门自动放行 + 人工抽查</a:t>
            </a:r>
            <a:br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退出：闸门外介入 ≤2 次/项目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53500" y="2794000"/>
            <a:ext cx="254000" cy="330200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07500" y="1397000"/>
            <a:ext cx="2730500" cy="3048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阶段四 · 学习型全自动</a:t>
            </a:r>
          </a:p>
          <a:p>
            <a:br/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A3 · 运行闭环接通</a:t>
            </a:r>
          </a:p>
          <a:p>
            <a:br/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学习管线常态化、扩展行业</a:t>
            </a:r>
            <a:br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退出：周期 -40% 持续两季度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4953000"/>
            <a:ext cx="11176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C05028"/>
                </a:solidFill>
                <a:latin typeface="微软雅黑"/>
                <a:ea typeface="微软雅黑"/>
              </a:rPr>
              <a:t>铁律：先单点后全链 · 先离线后在线 · 先低风险后高风险；任何阶段出现安全/重大质量事故即整体降级复盘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成本模型与 ROI（示例口径，立项前须按企业实际重算）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8000" y="1397000"/>
          <a:ext cx="111760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4000"/>
                <a:gridCol w="2794000"/>
                <a:gridCol w="2794000"/>
                <a:gridCol w="2794000"/>
              </a:tblGrid>
              <a:tr h="254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初始投入（CAPEX）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估算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年度收益（10 项目/年）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估算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Agent 平台开发/集成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¥80-150 万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工程人力节省（40%）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¥60-100 万/年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工程软件许可（TIA/EPLAN）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¥20-50 万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现场调试工时节省（50%）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¥20-40 万/年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算力与基础设施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¥10-30 万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质量成本降低（返工减少）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¥10-20 万/年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培训与变革管理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¥5-15 万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知识复用边际成本递减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逐年递增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¥115-245 万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投资回收期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约 1.5-2.5 年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8000" y="4191000"/>
            <a:ext cx="11176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注：收益换算系数（人力等效、返工率）需按企业人力成本与订单结构校准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评价指标与风险对策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8000" y="1270000"/>
          <a:ext cx="111760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4000"/>
                <a:gridCol w="2794000"/>
                <a:gridCol w="2794000"/>
                <a:gridCol w="2794000"/>
              </a:tblGrid>
              <a:tr h="2540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核心指标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目标（示例基线）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核心指标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目标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首次生成编译通过率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A1 ≥ 80%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现场调试工时比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下降 ≥ 50%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含内环修复后编译通过率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A1 ≥ 95%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一次验收通过率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≥ 80%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虚拟调试缺陷密度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较 3 年人工基线 -30%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模板复用率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≥ 60%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闸门外人工介入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≤ 2 次/项目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项目周期缩短率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≥ 40%</a:t>
                      </a:r>
                    </a:p>
                  </a:txBody>
                  <a:tcPr marL="50800" marR="50800" marT="25400" marB="25400">
                    <a:solidFill>
                      <a:srgbClr val="F3F6FA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追溯覆盖率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安全事故数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微软雅黑"/>
                          <a:ea typeface="微软雅黑"/>
                        </a:rPr>
                        <a:t>0（红线）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8000" y="4064000"/>
            <a:ext cx="11176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</a:rPr>
              <a:t>▪ 主要风险对策：幻觉→确定性门禁+证据强制；接口封闭→可自动化接口为硬条件；知识库污染→初筛+人工抽检；信任崩塌→分级降级复盘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</a:rPr>
              <a:t>▪ 首次生成 80% 基线参考 Agents4PLC 公开结果（首生成 70–85%，多轮修复后 95%+）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152400"/>
            <a:ext cx="11176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总结与下一步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38200"/>
            <a:ext cx="121920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000" y="1270000"/>
            <a:ext cx="11176000" cy="76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模型生成 · 系统裁决 · 人类把关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413000"/>
            <a:ext cx="1117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唯一覆盖“全程”的闭环设计：业界实现（Eigen/SemaPLC/Agents4PLC）均只覆盖中段，本架构覆盖需求→运维 7 段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三层闭环：工程环（内环修复+外环升级）+ 运行环（现场反哺）+ 学习环（经验沉淀）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全自动可审计：A0–A3 分级 + 不可移除闸门 + 全量决策日志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</a:rPr>
              <a:t>▪ 落地对标：Eigen 为商用标杆、SemaPLC/Agents4PLC 为组件与基准来源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5080000"/>
            <a:ext cx="11176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v2.0 候选：组织变革转型路径 ｜ 供应商评估矩阵 ｜ 跨厂商迁移策略 ｜ 性能与扩展性 ｜ 行业垂直化适配 ｜ FAT/SAT/VAT 详细策略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参考：Eigen（automation.com）· Agents4PLC（arXiv:2410.14209）· SemaPLC（github.com/midea-ai/SemaPLC）· RealPLC（TIA Openness 闭环）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